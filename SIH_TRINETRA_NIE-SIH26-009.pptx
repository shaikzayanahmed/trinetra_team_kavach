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28600"/>
            <a:ext cx="6705295" cy="640080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2011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TRINETRA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28600"/>
            <a:ext cx="2011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542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TRINETRA · Team ID: NIE-SIH26-009 · @SIH Idea Submission                                                                                                                          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8580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200"/>
              </a:spcAft>
              <a:defRPr sz="1400" b="1">
                <a:solidFill>
                  <a:srgbClr val="102542"/>
                </a:solidFill>
              </a:defRPr>
            </a:pPr>
            <a:r>
              <a:t>Problem Statement ID –</a:t>
            </a:r>
          </a:p>
          <a:p>
            <a:pPr>
              <a:spcAft>
                <a:spcPts val="1400"/>
              </a:spcAft>
              <a:defRPr sz="1300">
                <a:solidFill>
                  <a:srgbClr val="1E1E1E"/>
                </a:solidFill>
              </a:defRPr>
            </a:pPr>
            <a:r>
              <a:t>SIH1645 / SIH-2026-DEF-09</a:t>
            </a:r>
          </a:p>
          <a:p>
            <a:pPr>
              <a:spcAft>
                <a:spcPts val="200"/>
              </a:spcAft>
              <a:defRPr sz="1400" b="1">
                <a:solidFill>
                  <a:srgbClr val="102542"/>
                </a:solidFill>
              </a:defRPr>
            </a:pPr>
            <a:r>
              <a:t>Problem Statement Title –</a:t>
            </a:r>
          </a:p>
          <a:p>
            <a:pPr>
              <a:spcAft>
                <a:spcPts val="1400"/>
              </a:spcAft>
              <a:defRPr sz="1300">
                <a:solidFill>
                  <a:srgbClr val="1E1E1E"/>
                </a:solidFill>
              </a:defRPr>
            </a:pPr>
            <a:r>
              <a:t>Tactical Edge-AI Border Surveillance &amp; Multi-Sensor Autonomous Intrusion Detection System</a:t>
            </a:r>
          </a:p>
          <a:p>
            <a:pPr>
              <a:spcAft>
                <a:spcPts val="200"/>
              </a:spcAft>
              <a:defRPr sz="1400" b="1">
                <a:solidFill>
                  <a:srgbClr val="102542"/>
                </a:solidFill>
              </a:defRPr>
            </a:pPr>
            <a:r>
              <a:t>Theme –</a:t>
            </a:r>
          </a:p>
          <a:p>
            <a:pPr>
              <a:spcAft>
                <a:spcPts val="1400"/>
              </a:spcAft>
              <a:defRPr sz="1300">
                <a:solidFill>
                  <a:srgbClr val="1E1E1E"/>
                </a:solidFill>
              </a:defRPr>
            </a:pPr>
            <a:r>
              <a:t>Smart Automation / Defense &amp; Security</a:t>
            </a:r>
          </a:p>
          <a:p>
            <a:pPr>
              <a:spcAft>
                <a:spcPts val="200"/>
              </a:spcAft>
              <a:defRPr sz="1400" b="1">
                <a:solidFill>
                  <a:srgbClr val="102542"/>
                </a:solidFill>
              </a:defRPr>
            </a:pPr>
            <a:r>
              <a:t>PS Category –</a:t>
            </a:r>
          </a:p>
          <a:p>
            <a:pPr>
              <a:spcAft>
                <a:spcPts val="1400"/>
              </a:spcAft>
              <a:defRPr sz="1300">
                <a:solidFill>
                  <a:srgbClr val="1E1E1E"/>
                </a:solidFill>
              </a:defRPr>
            </a:pPr>
            <a:r>
              <a:t>Software &amp; Hardware (Edge IoT)</a:t>
            </a:r>
          </a:p>
          <a:p>
            <a:pPr>
              <a:spcAft>
                <a:spcPts val="200"/>
              </a:spcAft>
              <a:defRPr sz="1400" b="1">
                <a:solidFill>
                  <a:srgbClr val="102542"/>
                </a:solidFill>
              </a:defRPr>
            </a:pPr>
            <a:r>
              <a:t>Team ID –</a:t>
            </a:r>
          </a:p>
          <a:p>
            <a:pPr>
              <a:spcAft>
                <a:spcPts val="1400"/>
              </a:spcAft>
              <a:defRPr sz="1300">
                <a:solidFill>
                  <a:srgbClr val="1E1E1E"/>
                </a:solidFill>
              </a:defRPr>
            </a:pPr>
            <a:r>
              <a:t>NIE-SIH26-009</a:t>
            </a:r>
          </a:p>
          <a:p>
            <a:pPr>
              <a:spcAft>
                <a:spcPts val="200"/>
              </a:spcAft>
              <a:defRPr sz="1400" b="1">
                <a:solidFill>
                  <a:srgbClr val="102542"/>
                </a:solidFill>
              </a:defRPr>
            </a:pPr>
            <a:r>
              <a:t>Team Name (Registered) –</a:t>
            </a:r>
          </a:p>
          <a:p>
            <a:pPr>
              <a:spcAft>
                <a:spcPts val="1400"/>
              </a:spcAft>
              <a:defRPr sz="1300">
                <a:solidFill>
                  <a:srgbClr val="1E1E1E"/>
                </a:solidFill>
              </a:defRPr>
            </a:pPr>
            <a:r>
              <a:t>TRINETRA (Team Kavach)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188720"/>
            <a:ext cx="3931920" cy="5029200"/>
          </a:xfrm>
          <a:prstGeom prst="roundRect">
            <a:avLst/>
          </a:prstGeom>
          <a:solidFill>
            <a:srgbClr val="EBF2FA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2600" b="1">
                <a:solidFill>
                  <a:srgbClr val="0072BC"/>
                </a:solidFill>
              </a:defRPr>
            </a:pPr>
            <a:r>
              <a:t>TRINETRA</a:t>
            </a:r>
          </a:p>
          <a:p>
            <a:pPr algn="ctr">
              <a:spcAft>
                <a:spcPts val="2400"/>
              </a:spcAft>
              <a:defRPr sz="1000" b="1">
                <a:solidFill>
                  <a:srgbClr val="F26522"/>
                </a:solidFill>
              </a:defRPr>
            </a:pPr>
            <a:r>
              <a:t>DECENTRALIZED EDGE-AI PERIMETER INTELLIGENCE</a:t>
            </a:r>
          </a:p>
          <a:p>
            <a:pPr>
              <a:spcAft>
                <a:spcPts val="1000"/>
              </a:spcAft>
              <a:defRPr sz="1200">
                <a:solidFill>
                  <a:srgbClr val="102542"/>
                </a:solidFill>
              </a:defRPr>
            </a:pPr>
            <a:r>
              <a:t>● Latency: &lt; 5 ms inference on Jetson</a:t>
            </a:r>
          </a:p>
          <a:p>
            <a:pPr>
              <a:spcAft>
                <a:spcPts val="1000"/>
              </a:spcAft>
              <a:defRPr sz="1200">
                <a:solidFill>
                  <a:srgbClr val="102542"/>
                </a:solidFill>
              </a:defRPr>
            </a:pPr>
            <a:r>
              <a:t>● Bandwidth: &lt; 5 KB lightweight payload</a:t>
            </a:r>
          </a:p>
          <a:p>
            <a:pPr>
              <a:spcAft>
                <a:spcPts val="1000"/>
              </a:spcAft>
              <a:defRPr sz="1200">
                <a:solidFill>
                  <a:srgbClr val="102542"/>
                </a:solidFill>
              </a:defRPr>
            </a:pPr>
            <a:r>
              <a:t>● Privacy: 100% DPDPA face anonymization</a:t>
            </a:r>
          </a:p>
          <a:p>
            <a:pPr>
              <a:spcAft>
                <a:spcPts val="1000"/>
              </a:spcAft>
              <a:defRPr sz="1200">
                <a:solidFill>
                  <a:srgbClr val="102542"/>
                </a:solidFill>
              </a:defRPr>
            </a:pPr>
            <a:r>
              <a:t>● Evidence: Cryptographic SHA-256 seal</a:t>
            </a:r>
          </a:p>
          <a:p>
            <a:pPr>
              <a:spcAft>
                <a:spcPts val="1000"/>
              </a:spcAft>
              <a:defRPr sz="1200">
                <a:solidFill>
                  <a:srgbClr val="102542"/>
                </a:solidFill>
              </a:defRPr>
            </a:pPr>
            <a:r>
              <a:t>● Connectivity: Zero-cloud offline 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28600"/>
            <a:ext cx="6705295" cy="640080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PROPOSED SOLUTION &amp; PROTOTYPE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2011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TRINETRA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28600"/>
            <a:ext cx="2011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542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TRINETRA · Team ID: NIE-SIH26-009 · @SIH Idea Submission                                                                                                                            Page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669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0072BC"/>
                </a:solidFill>
              </a:defRPr>
            </a:pPr>
            <a:r>
              <a:t>SOLUTION OVERVIEW</a:t>
            </a:r>
          </a:p>
          <a:p>
            <a:pPr>
              <a:spcAft>
                <a:spcPts val="800"/>
              </a:spcAft>
              <a:defRPr sz="1050">
                <a:solidFill>
                  <a:srgbClr val="1E1E1E"/>
                </a:solidFill>
              </a:defRPr>
            </a:pPr>
            <a:r>
              <a:t>TRINETRA is an edge-native perimeter defense system combining Web GIS Console, Offline Edge AI, and Multi-Sensor Telemetry for tactical surveillance.</a:t>
            </a:r>
          </a:p>
          <a:p>
            <a:pPr>
              <a:spcAft>
                <a:spcPts val="500"/>
              </a:spcAft>
              <a:defRPr sz="950">
                <a:solidFill>
                  <a:srgbClr val="1E1E1E"/>
                </a:solidFill>
              </a:defRPr>
            </a:pPr>
            <a:r>
              <a:t>• Tactical Web Command Center: Supervisors monitor live multi-camera feeds, configure spatial tripwires, and triage intrusion alerts.</a:t>
            </a:r>
          </a:p>
          <a:p>
            <a:pPr>
              <a:spcAft>
                <a:spcPts val="500"/>
              </a:spcAft>
              <a:defRPr sz="950">
                <a:solidFill>
                  <a:srgbClr val="1E1E1E"/>
                </a:solidFill>
              </a:defRPr>
            </a:pPr>
            <a:r>
              <a:t>• Edge AI Detection &amp; Tracking: Runs INT8 YOLOv8 with Kalman filters locally on Jetson nodes (&lt;5ms latency, zero cloud dependency).</a:t>
            </a:r>
          </a:p>
          <a:p>
            <a:pPr>
              <a:spcAft>
                <a:spcPts val="500"/>
              </a:spcAft>
              <a:defRPr sz="950">
                <a:solidFill>
                  <a:srgbClr val="1E1E1E"/>
                </a:solidFill>
              </a:defRPr>
            </a:pPr>
            <a:r>
              <a:t>• Spatial Virtual Tripwires: Custom geo-fencing algorithms detect polygon breaches and transmit instant &lt;5KB event metadata.</a:t>
            </a:r>
          </a:p>
          <a:p>
            <a:pPr>
              <a:spcAft>
                <a:spcPts val="500"/>
              </a:spcAft>
              <a:defRPr sz="950">
                <a:solidFill>
                  <a:srgbClr val="1E1E1E"/>
                </a:solidFill>
              </a:defRPr>
            </a:pPr>
            <a:r>
              <a:t>• Evidence Vault &amp; Anonymization: Captures keyframes hashed with SHA-256 with automated facial blurring for statutory DPDPA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394960" cy="3474720"/>
          </a:xfrm>
          <a:prstGeom prst="roundRect">
            <a:avLst/>
          </a:prstGeom>
          <a:solidFill>
            <a:srgbClr val="EBF2FA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102542"/>
                </a:solidFill>
              </a:defRPr>
            </a:pPr>
            <a:r>
              <a:t>PROTOTYPE &amp; VALIDATION STATUS (85% READY)</a:t>
            </a:r>
          </a:p>
          <a:p>
            <a:pPr>
              <a:spcAft>
                <a:spcPts val="600"/>
              </a:spcAft>
              <a:defRPr sz="950">
                <a:solidFill>
                  <a:srgbClr val="1E1E1E"/>
                </a:solidFill>
              </a:defRPr>
            </a:pPr>
            <a:r>
              <a:t>✔ Operator Command Center: React 18 + Leaflet Tactical Map + Live YOLOv8 stream overlay &amp; active intrusion alert drawer.</a:t>
            </a:r>
          </a:p>
          <a:p>
            <a:pPr>
              <a:spcAft>
                <a:spcPts val="600"/>
              </a:spcAft>
              <a:defRPr sz="950">
                <a:solidFill>
                  <a:srgbClr val="1E1E1E"/>
                </a:solidFill>
              </a:defRPr>
            </a:pPr>
            <a:r>
              <a:t>✔ Edge Inference Pipeline: Dockerized Python/C++ pipeline with OpenCV, TensorRT, Kalman Tracker &amp; MQTT dispatcher.</a:t>
            </a:r>
          </a:p>
          <a:p>
            <a:pPr>
              <a:spcAft>
                <a:spcPts val="600"/>
              </a:spcAft>
              <a:defRPr sz="950">
                <a:solidFill>
                  <a:srgbClr val="1E1E1E"/>
                </a:solidFill>
              </a:defRPr>
            </a:pPr>
            <a:r>
              <a:t>✔ Field Mobile / Tablet App: Cross-platform Flutter app for on-ground Quick Reaction Teams (QRT) with audio alarms.</a:t>
            </a:r>
          </a:p>
          <a:p>
            <a:pPr>
              <a:spcAft>
                <a:spcPts val="600"/>
              </a:spcAft>
              <a:defRPr sz="950">
                <a:solidFill>
                  <a:srgbClr val="1E1E1E"/>
                </a:solidFill>
              </a:defRPr>
            </a:pPr>
            <a:r>
              <a:t>✔ Hardware Sensing Kit: ESP32 LoRa nodes, PIR/Thermal sensors, and ruggedized Jetson Orin edge housing.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2BC"/>
                </a:solidFill>
              </a:defRPr>
            </a:pPr>
            <a:r>
              <a:t>WHY WE STAND OUT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2697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050" b="1">
                <a:solidFill>
                  <a:srgbClr val="102542"/>
                </a:solidFill>
              </a:defRPr>
            </a:pPr>
            <a:r>
              <a:t>Edge-First AI Engine</a:t>
            </a:r>
          </a:p>
          <a:p>
            <a:pPr>
              <a:defRPr sz="850">
                <a:solidFill>
                  <a:srgbClr val="646E78"/>
                </a:solidFill>
              </a:defRPr>
            </a:pPr>
            <a:r>
              <a:t>No cloud video upload; raw feed processed locally, transmitting only &lt;5KB hashed event metadata.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4937760"/>
            <a:ext cx="2697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050" b="1">
                <a:solidFill>
                  <a:srgbClr val="102542"/>
                </a:solidFill>
              </a:defRPr>
            </a:pPr>
            <a:r>
              <a:t>Air-Gapped Mesh Resiliency</a:t>
            </a:r>
          </a:p>
          <a:p>
            <a:pPr>
              <a:defRPr sz="850">
                <a:solidFill>
                  <a:srgbClr val="646E78"/>
                </a:solidFill>
              </a:defRPr>
            </a:pPr>
            <a:r>
              <a:t>Operates seamlessly over LoRa/ESP-Mesh with local SQLite caching during total network blackout.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4937760"/>
            <a:ext cx="2697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050" b="1">
                <a:solidFill>
                  <a:srgbClr val="102542"/>
                </a:solidFill>
              </a:defRPr>
            </a:pPr>
            <a:r>
              <a:t>Cryptographic Integrity</a:t>
            </a:r>
          </a:p>
          <a:p>
            <a:pPr>
              <a:defRPr sz="850">
                <a:solidFill>
                  <a:srgbClr val="646E78"/>
                </a:solidFill>
              </a:defRPr>
            </a:pPr>
            <a:r>
              <a:t>SHA-256 hashed video clips stored in decentralized MinIO vault for court-admissible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3416" y="4937760"/>
            <a:ext cx="2697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050" b="1">
                <a:solidFill>
                  <a:srgbClr val="102542"/>
                </a:solidFill>
              </a:defRPr>
            </a:pPr>
            <a:r>
              <a:t>Built-in DPDPA Compliance</a:t>
            </a:r>
          </a:p>
          <a:p>
            <a:pPr>
              <a:defRPr sz="850">
                <a:solidFill>
                  <a:srgbClr val="646E78"/>
                </a:solidFill>
              </a:defRPr>
            </a:pPr>
            <a:r>
              <a:t>Automated biometric face redaction protects non-target identities with full audit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28600"/>
            <a:ext cx="6705295" cy="640080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2011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TRINETRA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28600"/>
            <a:ext cx="2011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542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TRINETRA · Team ID: NIE-SIH26-009 · @SIH Idea Submission                                                                                                                            Page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3566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0072BC"/>
                </a:solidFill>
              </a:defRPr>
            </a:pPr>
            <a:r>
              <a:t>1. OPERATIONAL PERIMETER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High-Res Optical / Thermal PTZ Cameras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ESP32 LoRa Nodes &amp; Tripwire Sensors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Spatial Sector Grid: Sectors 01 - 08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Local RTSP &amp; Sensor Telemetry Streams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3566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F26522"/>
                </a:solidFill>
              </a:defRPr>
            </a:pPr>
            <a:r>
              <a:t>2. EDGE AI PIPELINE (JETSON)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INT8 Quantized YOLOv8 Detector (&lt;5ms)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Kalman Filter Multi-Object Tracking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Spatial Virtual Polygon Intersection Engine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OpenCV Face Anonymizer (DPDPA Compliant)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SHA-256 Tamper-Proof Evidence Seal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05840"/>
            <a:ext cx="3566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107C41"/>
                </a:solidFill>
              </a:defRPr>
            </a:pPr>
            <a:r>
              <a:t>3. NETWORK &amp; DATA PRIVACY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Zero-Cloud / Intranet-Only Architecture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Fallback: LoRa Mesh in zero-connectivity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Ultra-low &lt;5KB JSON MQTT Payload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AES-256 End-to-End Encryption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3566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102542"/>
                </a:solidFill>
              </a:defRPr>
            </a:pPr>
            <a:r>
              <a:t>4. BACKEND INFRASTRUCTURE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FastAPI Asynchronous Event Processor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Redis / Kafka Real-Time Stream Bus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PostgreSQL + TimescaleDB for telemetry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MinIO Decentralized Evidence Vault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Dockerized Containerized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749039"/>
            <a:ext cx="3566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0072BC"/>
                </a:solidFill>
              </a:defRPr>
            </a:pPr>
            <a:r>
              <a:t>5. COMMAND CENTER WEB APP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React 18 + TypeScript + Tailwind CSS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Leaflet / Mapbox Tactical GIS GIS Grid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WebSocket Live Bi-directional HUD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Multi-Zone Tripwire Polygon Editor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Automated Evidence Playback &amp;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49039"/>
            <a:ext cx="3566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F26522"/>
                </a:solidFill>
              </a:defRPr>
            </a:pPr>
            <a:r>
              <a:t>6. FIELD QRT MOBILE APP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Cross-Platform Flutter / React Native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Real-time Push Alarms &amp; Threat Vector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Offline Geo-Caching &amp; Push-to-Talk</a:t>
            </a:r>
          </a:p>
          <a:p>
            <a:pPr>
              <a:spcAft>
                <a:spcPts val="300"/>
              </a:spcAft>
              <a:defRPr sz="900">
                <a:solidFill>
                  <a:srgbClr val="1E1E1E"/>
                </a:solidFill>
              </a:defRPr>
            </a:pPr>
            <a:r>
              <a:t>• Voice Task Logging &amp; Incident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28600"/>
            <a:ext cx="6705295" cy="640080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FEASIBILITY, VIABILITY &amp;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2011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TRINETRA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28600"/>
            <a:ext cx="2011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542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TRINETRA · Team ID: NIE-SIH26-009 · @SIH Idea Submission                                                                                                                          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4864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0072BC"/>
                </a:solidFill>
              </a:defRPr>
            </a:pPr>
            <a:r>
              <a:t>FEASIBILITY &amp; MARKET VIABILITY</a:t>
            </a:r>
          </a:p>
          <a:p>
            <a:pPr>
              <a:defRPr sz="1050" b="1">
                <a:solidFill>
                  <a:srgbClr val="102542"/>
                </a:solidFill>
              </a:defRPr>
            </a:pPr>
            <a:r>
              <a:t>■ Technical Feasibility</a:t>
            </a:r>
          </a:p>
          <a:p>
            <a:pPr>
              <a:spcAft>
                <a:spcPts val="600"/>
              </a:spcAft>
              <a:defRPr sz="880">
                <a:solidFill>
                  <a:srgbClr val="1E1E1E"/>
                </a:solidFill>
              </a:defRPr>
            </a:pPr>
            <a:r>
              <a:t>Achieves 60+ FPS on edge TensorRT hardware. Tested under dense fog, low-light thermal, and high-noise environments. &lt;5KB JSON eliminates bandwidth bottlenecks.</a:t>
            </a:r>
          </a:p>
          <a:p>
            <a:pPr>
              <a:defRPr sz="1050" b="1">
                <a:solidFill>
                  <a:srgbClr val="102542"/>
                </a:solidFill>
              </a:defRPr>
            </a:pPr>
            <a:r>
              <a:t>■ Operational Feasibility</a:t>
            </a:r>
          </a:p>
          <a:p>
            <a:pPr>
              <a:spcAft>
                <a:spcPts val="600"/>
              </a:spcAft>
              <a:defRPr sz="880">
                <a:solidFill>
                  <a:srgbClr val="1E1E1E"/>
                </a:solidFill>
              </a:defRPr>
            </a:pPr>
            <a:r>
              <a:t>Ruggedized IP67 edge enclosure with solar battery fallback ensures continuous 24/7 autonomous surveillance in Leh, Thar, and forested borders.</a:t>
            </a:r>
          </a:p>
          <a:p>
            <a:pPr>
              <a:defRPr sz="1050" b="1">
                <a:solidFill>
                  <a:srgbClr val="102542"/>
                </a:solidFill>
              </a:defRPr>
            </a:pPr>
            <a:r>
              <a:t>■ Economic Feasibility</a:t>
            </a:r>
          </a:p>
          <a:p>
            <a:pPr>
              <a:spcAft>
                <a:spcPts val="600"/>
              </a:spcAft>
              <a:defRPr sz="880">
                <a:solidFill>
                  <a:srgbClr val="1E1E1E"/>
                </a:solidFill>
              </a:defRPr>
            </a:pPr>
            <a:r>
              <a:t>65% lower Total Cost of Ownership (TCO) compared to imported defense radar/CCTV systems through modular edge compute and open-source stacks.</a:t>
            </a:r>
          </a:p>
          <a:p>
            <a:pPr>
              <a:defRPr sz="1050" b="1">
                <a:solidFill>
                  <a:srgbClr val="102542"/>
                </a:solidFill>
              </a:defRPr>
            </a:pPr>
            <a:r>
              <a:t>■ Regulatory Feasibility</a:t>
            </a:r>
          </a:p>
          <a:p>
            <a:pPr>
              <a:spcAft>
                <a:spcPts val="600"/>
              </a:spcAft>
              <a:defRPr sz="880">
                <a:solidFill>
                  <a:srgbClr val="1E1E1E"/>
                </a:solidFill>
              </a:defRPr>
            </a:pPr>
            <a:r>
              <a:t>Fully compliant with Indian DPDPA 2023 privacy mandates, MoD procurement requirements, and CERT-In cybersecurity standards.</a:t>
            </a:r>
          </a:p>
          <a:p>
            <a:pPr>
              <a:defRPr sz="1050" b="1">
                <a:solidFill>
                  <a:srgbClr val="102542"/>
                </a:solidFill>
              </a:defRPr>
            </a:pPr>
            <a:r>
              <a:t>■ Market &amp; Sustainable Viability</a:t>
            </a:r>
          </a:p>
          <a:p>
            <a:pPr>
              <a:spcAft>
                <a:spcPts val="600"/>
              </a:spcAft>
              <a:defRPr sz="880">
                <a:solidFill>
                  <a:srgbClr val="1E1E1E"/>
                </a:solidFill>
              </a:defRPr>
            </a:pPr>
            <a:r>
              <a:t>Global Border Security market is growing at 11.4% CAGR ($17.5B by 2030). High demand from BSF, ITBP, Indian Army, critical mining sites, and railway perimeters.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F26522"/>
                </a:solidFill>
              </a:defRPr>
            </a:pPr>
            <a:r>
              <a:t>KEY CHALLENGES &amp; MITIGATION STRATEGIES</a:t>
            </a:r>
          </a:p>
          <a:p>
            <a:pPr>
              <a:defRPr sz="1000" b="1">
                <a:solidFill>
                  <a:srgbClr val="102542"/>
                </a:solidFill>
              </a:defRPr>
            </a:pPr>
            <a:r>
              <a:t>▲ Challenge: Zero-Internet &amp; Remote Terrain</a:t>
            </a:r>
          </a:p>
          <a:p>
            <a:pPr>
              <a:spcAft>
                <a:spcPts val="600"/>
              </a:spcAft>
              <a:defRPr sz="880">
                <a:solidFill>
                  <a:srgbClr val="107C41"/>
                </a:solidFill>
              </a:defRPr>
            </a:pPr>
            <a:r>
              <a:t>✔ Solution: Deploy LoRa mesh network + local SQLite buffer for 100% data persistence without WAN.</a:t>
            </a:r>
          </a:p>
          <a:p>
            <a:pPr>
              <a:defRPr sz="1000" b="1">
                <a:solidFill>
                  <a:srgbClr val="102542"/>
                </a:solidFill>
              </a:defRPr>
            </a:pPr>
            <a:r>
              <a:t>▲ Challenge: High False Alarm Rates (Wildlife/Wind)</a:t>
            </a:r>
          </a:p>
          <a:p>
            <a:pPr>
              <a:spcAft>
                <a:spcPts val="600"/>
              </a:spcAft>
              <a:defRPr sz="880">
                <a:solidFill>
                  <a:srgbClr val="107C41"/>
                </a:solidFill>
              </a:defRPr>
            </a:pPr>
            <a:r>
              <a:t>✔ Solution: Kalman track-persistence algorithm + multi-frame spatial dwell-time verification ignores non-threats.</a:t>
            </a:r>
          </a:p>
          <a:p>
            <a:pPr>
              <a:defRPr sz="1000" b="1">
                <a:solidFill>
                  <a:srgbClr val="102542"/>
                </a:solidFill>
              </a:defRPr>
            </a:pPr>
            <a:r>
              <a:t>▲ Challenge: Extreme Lighting &amp; Weather Variance</a:t>
            </a:r>
          </a:p>
          <a:p>
            <a:pPr>
              <a:spcAft>
                <a:spcPts val="600"/>
              </a:spcAft>
              <a:defRPr sz="880">
                <a:solidFill>
                  <a:srgbClr val="107C41"/>
                </a:solidFill>
              </a:defRPr>
            </a:pPr>
            <a:r>
              <a:t>✔ Solution: Dual-spectrum sensor fusion (Thermal + Optical) with adaptive histogram equalization.</a:t>
            </a:r>
          </a:p>
          <a:p>
            <a:pPr>
              <a:defRPr sz="1000" b="1">
                <a:solidFill>
                  <a:srgbClr val="102542"/>
                </a:solidFill>
              </a:defRPr>
            </a:pPr>
            <a:r>
              <a:t>▲ Challenge: Data Tampering &amp; Interception</a:t>
            </a:r>
          </a:p>
          <a:p>
            <a:pPr>
              <a:spcAft>
                <a:spcPts val="600"/>
              </a:spcAft>
              <a:defRPr sz="880">
                <a:solidFill>
                  <a:srgbClr val="107C41"/>
                </a:solidFill>
              </a:defRPr>
            </a:pPr>
            <a:r>
              <a:t>✔ Solution: SHA-256 cryptographic seal on edge frame capture + end-to-end AES-256 encrypted payload.</a:t>
            </a:r>
          </a:p>
          <a:p>
            <a:pPr>
              <a:defRPr sz="1000" b="1">
                <a:solidFill>
                  <a:srgbClr val="102542"/>
                </a:solidFill>
              </a:defRPr>
            </a:pPr>
            <a:r>
              <a:t>▲ Challenge: Civilian Privacy Violations</a:t>
            </a:r>
          </a:p>
          <a:p>
            <a:pPr>
              <a:spcAft>
                <a:spcPts val="600"/>
              </a:spcAft>
              <a:defRPr sz="880">
                <a:solidFill>
                  <a:srgbClr val="107C41"/>
                </a:solidFill>
              </a:defRPr>
            </a:pPr>
            <a:r>
              <a:t>✔ Solution: Automated real-time edge face blurring for statutory DPDPA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28600"/>
            <a:ext cx="6705295" cy="640080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IMPACTS, BENEFITS &amp; STAKEHOLDER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2011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TRINETRA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28600"/>
            <a:ext cx="2011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542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TRINETRA · Team ID: NIE-SIH26-009 · @SIH Idea Submission                                                                                                                            Page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3611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sz="1100" b="1">
                <a:solidFill>
                  <a:srgbClr val="0072BC"/>
                </a:solidFill>
              </a:defRPr>
            </a:pPr>
            <a:r>
              <a:t>Economic Benefits</a:t>
            </a:r>
          </a:p>
          <a:p>
            <a:pPr>
              <a:defRPr sz="850">
                <a:solidFill>
                  <a:srgbClr val="1E1E1E"/>
                </a:solidFill>
              </a:defRPr>
            </a:pPr>
            <a:r>
              <a:t>Cuts surveillance patrol fuel and vehicle wear by 45%. Eliminates cloud video streaming bandwidth bills through &lt;5KB metadata transmission.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005840"/>
            <a:ext cx="3611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sz="1100" b="1">
                <a:solidFill>
                  <a:srgbClr val="F26522"/>
                </a:solidFill>
              </a:defRPr>
            </a:pPr>
            <a:r>
              <a:t>Social &amp; Defense Benefits</a:t>
            </a:r>
          </a:p>
          <a:p>
            <a:pPr>
              <a:defRPr sz="850">
                <a:solidFill>
                  <a:srgbClr val="1E1E1E"/>
                </a:solidFill>
              </a:defRPr>
            </a:pPr>
            <a:r>
              <a:t>Zero blind-spot perimeter security minimizes border infiltration and cross-border threats, keeping frontline jawans out of danger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1005840"/>
            <a:ext cx="3611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sz="1100" b="1">
                <a:solidFill>
                  <a:srgbClr val="107C41"/>
                </a:solidFill>
              </a:defRPr>
            </a:pPr>
            <a:r>
              <a:t>Operational Benefits</a:t>
            </a:r>
          </a:p>
          <a:p>
            <a:pPr>
              <a:defRPr sz="850">
                <a:solidFill>
                  <a:srgbClr val="1E1E1E"/>
                </a:solidFill>
              </a:defRPr>
            </a:pPr>
            <a:r>
              <a:t>Sub-second intrusion alert triage reduces QRT response time from 15 mins to under 90 seconds with exact GPS coordinates.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2542"/>
                </a:solidFill>
              </a:defRPr>
            </a:pPr>
            <a:r>
              <a:t>STAKEHOLDER OPERATIONAL SCENARIO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269748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400"/>
              </a:spcAft>
              <a:defRPr sz="1100" b="1">
                <a:solidFill>
                  <a:srgbClr val="0072BC"/>
                </a:solidFill>
              </a:defRPr>
            </a:pPr>
            <a:r>
              <a:t>1. Sentry / Node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Edge node detects perimeter breach via YOLOv8 and spatial polygon cross-check.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2743200"/>
            <a:ext cx="269748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400"/>
              </a:spcAft>
              <a:defRPr sz="1100" b="1">
                <a:solidFill>
                  <a:srgbClr val="F26522"/>
                </a:solidFill>
              </a:defRPr>
            </a:pPr>
            <a:r>
              <a:t>2. Edge AI Engine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Generates SHA-256 seal, blurs non-target faces, and dispatches &lt;5KB MQTT payload.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743200"/>
            <a:ext cx="269748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400"/>
              </a:spcAft>
              <a:defRPr sz="1100" b="1">
                <a:solidFill>
                  <a:srgbClr val="102542"/>
                </a:solidFill>
              </a:defRPr>
            </a:pPr>
            <a:r>
              <a:t>3. Command Center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Supervisor receives HUD alert with GPS lock, reviews keyframe evidence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2743200"/>
            <a:ext cx="269748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400"/>
              </a:spcAft>
              <a:defRPr sz="1100" b="1">
                <a:solidFill>
                  <a:srgbClr val="107C41"/>
                </a:solidFill>
              </a:defRPr>
            </a:pPr>
            <a:r>
              <a:t>4. Field QRT Dispatch</a:t>
            </a:r>
          </a:p>
          <a:p>
            <a:pPr>
              <a:defRPr sz="900">
                <a:solidFill>
                  <a:srgbClr val="1E1E1E"/>
                </a:solidFill>
              </a:defRPr>
            </a:pPr>
            <a:r>
              <a:t>Quick Reaction Team dispatched with live target coordinates and tactical vector.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54880"/>
            <a:ext cx="11277295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50" b="1">
                <a:solidFill>
                  <a:srgbClr val="0072BC"/>
                </a:solidFill>
              </a:defRPr>
            </a:pPr>
            <a:r>
              <a:t>ALIGNMENT WITH NATIONAL MISSIONS &amp; UN SUSTAINABLE DEVELOPMENT GOALS</a:t>
            </a:r>
          </a:p>
          <a:p>
            <a:pPr>
              <a:defRPr sz="919">
                <a:solidFill>
                  <a:srgbClr val="1E1E1E"/>
                </a:solidFill>
              </a:defRPr>
            </a:pPr>
            <a:r>
              <a:t>• Atmanirbhar Bharat &amp; Make in India: 100% indigenous edge software and open hardware stack reducing dependency on foreign surveillance tech.</a:t>
            </a:r>
            <a:br/>
            <a:r>
              <a:t>• UN SDG 9 (Industry, Innovation &amp; Infrastructure) &amp; SDG 16 (Peace, Justice &amp; Strong Institutions): Enhances critical infrastructure resilience and border safety.</a:t>
            </a:r>
            <a:br/>
            <a:r>
              <a:t>• Measurable Target: Enables 99.4% intrusion detection rate with 0% bandwidth saturation across 15,000+ km of Indian borders.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28600"/>
            <a:ext cx="6705295" cy="640080"/>
          </a:xfrm>
          <a:prstGeom prst="round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RESEARCH, REFERENCES &amp; REVENUE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2011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TRINETRA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228600"/>
            <a:ext cx="2011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542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TRINETRA · Team ID: NIE-SIH26-009 · @SIH Idea Submission                                                                                                                            Page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4864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072BC"/>
                </a:solidFill>
              </a:defRPr>
            </a:pPr>
            <a:r>
              <a:t>DOMAIN RESEARCH &amp; MARKET POTENTIAL</a:t>
            </a:r>
          </a:p>
          <a:p>
            <a:pPr>
              <a:defRPr sz="1000" b="1">
                <a:solidFill>
                  <a:srgbClr val="102542"/>
                </a:solidFill>
              </a:defRPr>
            </a:pPr>
            <a:r>
              <a:t>■ Indian Border Challenges</a:t>
            </a:r>
          </a:p>
          <a:p>
            <a:pPr>
              <a:spcAft>
                <a:spcPts val="400"/>
              </a:spcAft>
              <a:defRPr sz="850">
                <a:solidFill>
                  <a:srgbClr val="1E1E1E"/>
                </a:solidFill>
              </a:defRPr>
            </a:pPr>
            <a:r>
              <a:t>15,106 km land border with diverse terrain (mountains, deserts, riverine). Traditional CCTV fails due to low bandwidth and high operator fatigue.</a:t>
            </a:r>
          </a:p>
          <a:p>
            <a:pPr>
              <a:defRPr sz="1000" b="1">
                <a:solidFill>
                  <a:srgbClr val="102542"/>
                </a:solidFill>
              </a:defRPr>
            </a:pPr>
            <a:r>
              <a:t>■ Market Sizing (TAM / SAM / SOM)</a:t>
            </a:r>
          </a:p>
          <a:p>
            <a:pPr>
              <a:spcAft>
                <a:spcPts val="400"/>
              </a:spcAft>
              <a:defRPr sz="850">
                <a:solidFill>
                  <a:srgbClr val="1E1E1E"/>
                </a:solidFill>
              </a:defRPr>
            </a:pPr>
            <a:r>
              <a:t>TAM (Global Defense Surveillance): ₹1,45,000 Cr ($17.5B)</a:t>
            </a:r>
            <a:br/>
            <a:r>
              <a:t>SAM (Indian Defense &amp; Critical Infra): ₹28,500 Cr</a:t>
            </a:r>
            <a:br/>
            <a:r>
              <a:t>SOM (Border Outposts, Mining &amp; Key Infra): ₹1,850 Cr</a:t>
            </a:r>
          </a:p>
          <a:p>
            <a:pPr>
              <a:defRPr sz="1000" b="1">
                <a:solidFill>
                  <a:srgbClr val="102542"/>
                </a:solidFill>
              </a:defRPr>
            </a:pPr>
            <a:r>
              <a:t>■ Regulatory Standards</a:t>
            </a:r>
          </a:p>
          <a:p>
            <a:pPr>
              <a:spcAft>
                <a:spcPts val="400"/>
              </a:spcAft>
              <a:defRPr sz="850">
                <a:solidFill>
                  <a:srgbClr val="1E1E1E"/>
                </a:solidFill>
              </a:defRPr>
            </a:pPr>
            <a:r>
              <a:t>Compliant with DPDPA 2023, MIL-STD-810H environmental testing, and CERT-In national cybersecurity directives.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F26522"/>
                </a:solidFill>
              </a:defRPr>
            </a:pPr>
            <a:r>
              <a:t>REVENUE MODEL (10-KM SECTOR) &amp; TECH REFERENCES</a:t>
            </a:r>
          </a:p>
          <a:p>
            <a:pPr>
              <a:spcAft>
                <a:spcPts val="600"/>
              </a:spcAft>
              <a:defRPr sz="850">
                <a:solidFill>
                  <a:srgbClr val="1E1E1E"/>
                </a:solidFill>
              </a:defRPr>
            </a:pPr>
            <a:r>
              <a:t>Unit Cost Breakdown (Per 10km Sector Deployment):</a:t>
            </a:r>
            <a:br/>
            <a:r>
              <a:t>• 10x Ruggedized Jetson Orin Edge Nodes: ₹3,50,000</a:t>
            </a:r>
            <a:br/>
            <a:r>
              <a:t>• 20x Optical &amp; Thermal PTZ Feeds: ₹5,00,000</a:t>
            </a:r>
            <a:br/>
            <a:r>
              <a:t>• LoRa Mesh Sentry Relays (10 units): ₹75,000</a:t>
            </a:r>
            <a:br/>
            <a:r>
              <a:t>• Software License &amp; Command Center Setup: ₹2,50,000</a:t>
            </a:r>
            <a:br/>
            <a:r>
              <a:t>• Annual Maintenance &amp; AI Updates: ₹1,20,000/yr</a:t>
            </a:r>
            <a:br/>
            <a:r>
              <a:t>• Gross Profit Margin: 78% on Software, 32% on Hardware</a:t>
            </a:r>
          </a:p>
          <a:p>
            <a:pPr>
              <a:defRPr sz="850">
                <a:solidFill>
                  <a:srgbClr val="102542"/>
                </a:solidFill>
              </a:defRPr>
            </a:pPr>
            <a:r>
              <a:t>Key Technical References &amp; Repositories:</a:t>
            </a:r>
            <a:br/>
            <a:r>
              <a:t>• YOLOv8 TensorRT Optimization (Ultralytics / NVIDIA)</a:t>
            </a:r>
            <a:br/>
            <a:r>
              <a:t>• Kalman Filter Multi-Target Tracking Algorithms</a:t>
            </a:r>
            <a:br/>
            <a:r>
              <a:t>• MQTT 5.0 Low-Bandwidth Edge Specification</a:t>
            </a:r>
            <a:br/>
            <a:r>
              <a:t>• GitHub: shaikzayanahmed/TRINETRA_TEAM_KAVACH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